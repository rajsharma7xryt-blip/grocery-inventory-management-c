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Tomorrow Bold"/>
      <p:regular r:id="rId201314"/>
    </p:embeddedFont>
    <p:embeddedFont>
      <p:font typeface="Tomorrow ExtraBold"/>
      <p:regular r:id="rId201315"/>
    </p:embeddedFont>
    <p:embeddedFont>
      <p:font typeface="Tomorrow ExtraLight"/>
      <p:regular r:id="rId201316"/>
    </p:embeddedFont>
    <p:embeddedFont>
      <p:font typeface="Tomorrow Light"/>
      <p:regular r:id="rId201317"/>
    </p:embeddedFont>
    <p:embeddedFont>
      <p:font typeface="Tomorrow"/>
      <p:regular r:id="rId201318"/>
    </p:embeddedFont>
    <p:embeddedFont>
      <p:font typeface="Tomorrow Medium"/>
      <p:regular r:id="rId201319"/>
    </p:embeddedFont>
    <p:embeddedFont>
      <p:font typeface="Tomorrow SemiBold"/>
      <p:regular r:id="rId201320"/>
    </p:embeddedFont>
    <p:embeddedFont>
      <p:font typeface="Tomorrow Thin"/>
      <p:regular r:id="rId201321"/>
    </p:embeddedFont>
    <p:embeddedFont>
      <p:font typeface="Tomorrow Black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image" Target="../media/image-3-12.png"/><Relationship Id="rId13" Type="http://schemas.openxmlformats.org/officeDocument/2006/relationships/image" Target="../media/image-3-1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image" Target="../media/image-4-12.png"/><Relationship Id="rId13" Type="http://schemas.openxmlformats.org/officeDocument/2006/relationships/image" Target="../media/image-4-13.svg"/><Relationship Id="rId14" Type="http://schemas.openxmlformats.org/officeDocument/2006/relationships/image" Target="../media/image-4-14.png"/><Relationship Id="rId15" Type="http://schemas.openxmlformats.org/officeDocument/2006/relationships/image" Target="../media/image-4-15.svg"/><Relationship Id="rId16" Type="http://schemas.openxmlformats.org/officeDocument/2006/relationships/image" Target="../media/image-4-16.png"/><Relationship Id="rId17" Type="http://schemas.openxmlformats.org/officeDocument/2006/relationships/image" Target="../media/image-4-17.sv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3.png"/><Relationship Id="rId6" Type="http://schemas.openxmlformats.org/officeDocument/2006/relationships/image" Target="../media/image-6-4.svg"/><Relationship Id="rId7" Type="http://schemas.openxmlformats.org/officeDocument/2006/relationships/image" Target="../media/image-6-3.png"/><Relationship Id="rId8" Type="http://schemas.openxmlformats.org/officeDocument/2006/relationships/image" Target="../media/image-6-4.svg"/><Relationship Id="rId9" Type="http://schemas.openxmlformats.org/officeDocument/2006/relationships/image" Target="../media/image-6-3.png"/><Relationship Id="rId10" Type="http://schemas.openxmlformats.org/officeDocument/2006/relationships/image" Target="../media/image-6-4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1.png"/><Relationship Id="rId14" Type="http://schemas.openxmlformats.org/officeDocument/2006/relationships/image" Target="../media/image-6-12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955304"/>
            <a:ext cx="2649967" cy="287139"/>
          </a:xfrm>
          <a:prstGeom prst="roundRect">
            <a:avLst>
              <a:gd name="adj" fmla="val 7899"/>
            </a:avLst>
          </a:prstGeom>
          <a:solidFill>
            <a:srgbClr val="E6E6E5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79" y="2023269"/>
            <a:ext cx="151206" cy="15120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1687" y="2011958"/>
            <a:ext cx="280593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MINI PROJECT PRESENTATION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661475" y="23180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Grocery Inventory Management System</a:t>
            </a:r>
            <a:endParaRPr lang="en-US" sz="3700" dirty="0"/>
          </a:p>
        </p:txBody>
      </p:sp>
      <p:sp>
        <p:nvSpPr>
          <p:cNvPr id="7" name="Text 3"/>
          <p:cNvSpPr/>
          <p:nvPr/>
        </p:nvSpPr>
        <p:spPr>
          <a:xfrm>
            <a:off x="661475" y="3782814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 console-based C application for managing grocery stock with product tracking, search, and inventory operations.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61615C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Raj Sharma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· B.Tech (CSE-AI)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134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Problem Statement and Solution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58216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Small grocery stores often struggle to keep stock accurate when everything is tracked by hand.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28622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Manual Register Management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770511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Human errors in record-keeping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Inaccurate stock information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Time-consuming manual inventory updates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Difficulty searching for products quickly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328622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Digital Inventory Management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3770511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Organized system for stock tracking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Improved accuracy and reliability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Faster inventory updates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Quick product search and retrieval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6134"/>
            <a:ext cx="1308563" cy="272752"/>
          </a:xfrm>
          <a:prstGeom prst="roundRect">
            <a:avLst>
              <a:gd name="adj" fmla="val 7900"/>
            </a:avLst>
          </a:prstGeom>
          <a:solidFill>
            <a:srgbClr val="E6E6E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125" y="720725"/>
            <a:ext cx="143566" cy="143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84424" y="709910"/>
            <a:ext cx="1487550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61475" y="997049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What This System Achieves</a:t>
            </a:r>
            <a:endParaRPr lang="en-US" sz="3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14116"/>
            <a:ext cx="359064" cy="3590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475" y="2386409"/>
            <a:ext cx="53277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Add Products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61475" y="2769195"/>
            <a:ext cx="532771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Register new items with ID, name, quantity, and price.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2406" y="1814116"/>
            <a:ext cx="359064" cy="3590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02406" y="2386409"/>
            <a:ext cx="532781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Display Products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6202406" y="2769195"/>
            <a:ext cx="53278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View the full inventory in a formatted table.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390404"/>
            <a:ext cx="359064" cy="35907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475" y="3962698"/>
            <a:ext cx="53277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Search Products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61475" y="4345484"/>
            <a:ext cx="532771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Locate any item quickly by product ID or name.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2406" y="3390404"/>
            <a:ext cx="359064" cy="35907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02406" y="3962698"/>
            <a:ext cx="532781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Update Stock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6202406" y="4345484"/>
            <a:ext cx="53278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Modify quantity or price of existing products.</a:t>
            </a:r>
            <a:endParaRPr lang="en-US" sz="14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4966692"/>
            <a:ext cx="359064" cy="35907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61475" y="5538986"/>
            <a:ext cx="53277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Delete Products</a:t>
            </a:r>
            <a:endParaRPr lang="en-US" sz="1750" dirty="0"/>
          </a:p>
        </p:txBody>
      </p:sp>
      <p:sp>
        <p:nvSpPr>
          <p:cNvPr id="20" name="Text 12"/>
          <p:cNvSpPr/>
          <p:nvPr/>
        </p:nvSpPr>
        <p:spPr>
          <a:xfrm>
            <a:off x="661475" y="5921772"/>
            <a:ext cx="532771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Remove discontinued items from the inventory.</a:t>
            </a:r>
            <a:endParaRPr lang="en-US" sz="14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02406" y="4966692"/>
            <a:ext cx="359064" cy="359073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202406" y="5538986"/>
            <a:ext cx="532781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Menu-Driven Interface</a:t>
            </a:r>
            <a:endParaRPr lang="en-US" sz="1750" dirty="0"/>
          </a:p>
        </p:txBody>
      </p:sp>
      <p:sp>
        <p:nvSpPr>
          <p:cNvPr id="23" name="Text 14"/>
          <p:cNvSpPr/>
          <p:nvPr/>
        </p:nvSpPr>
        <p:spPr>
          <a:xfrm>
            <a:off x="6202406" y="5921772"/>
            <a:ext cx="53278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Simple, intuitive console menu for all operations.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56444"/>
            <a:ext cx="785098" cy="186630"/>
          </a:xfrm>
          <a:prstGeom prst="roundRect">
            <a:avLst>
              <a:gd name="adj" fmla="val 7900"/>
            </a:avLst>
          </a:prstGeom>
          <a:solidFill>
            <a:srgbClr val="E6E6E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093" y="800596"/>
            <a:ext cx="98224" cy="982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2429" y="793254"/>
            <a:ext cx="1100110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FEATURES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61475" y="974923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Core Features at a Glance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61475" y="1478657"/>
            <a:ext cx="5394488" cy="1095871"/>
          </a:xfrm>
          <a:prstGeom prst="roundRect">
            <a:avLst>
              <a:gd name="adj" fmla="val 1682"/>
            </a:avLst>
          </a:prstGeom>
          <a:solidFill>
            <a:srgbClr val="F0EAEA"/>
          </a:solidFill>
          <a:ln/>
        </p:spPr>
      </p:sp>
      <p:sp>
        <p:nvSpPr>
          <p:cNvPr id="7" name="Shape 4"/>
          <p:cNvSpPr/>
          <p:nvPr/>
        </p:nvSpPr>
        <p:spPr>
          <a:xfrm>
            <a:off x="784305" y="1601490"/>
            <a:ext cx="368489" cy="368498"/>
          </a:xfrm>
          <a:prstGeom prst="ellipse">
            <a:avLst/>
          </a:prstGeom>
          <a:solidFill>
            <a:srgbClr val="1D1D1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604" y="1702792"/>
            <a:ext cx="165790" cy="1657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4305" y="2049760"/>
            <a:ext cx="51488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Product ID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84305" y="2289572"/>
            <a:ext cx="51488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Unique identifier for each product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135732" y="1478657"/>
            <a:ext cx="5394488" cy="1095871"/>
          </a:xfrm>
          <a:prstGeom prst="roundRect">
            <a:avLst>
              <a:gd name="adj" fmla="val 1682"/>
            </a:avLst>
          </a:prstGeom>
          <a:solidFill>
            <a:srgbClr val="F0EAEA"/>
          </a:solidFill>
          <a:ln/>
        </p:spPr>
      </p:sp>
      <p:sp>
        <p:nvSpPr>
          <p:cNvPr id="12" name="Shape 8"/>
          <p:cNvSpPr/>
          <p:nvPr/>
        </p:nvSpPr>
        <p:spPr>
          <a:xfrm>
            <a:off x="6258562" y="1601490"/>
            <a:ext cx="368489" cy="368498"/>
          </a:xfrm>
          <a:prstGeom prst="ellipse">
            <a:avLst/>
          </a:prstGeom>
          <a:solidFill>
            <a:srgbClr val="1D1D1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9862" y="1702792"/>
            <a:ext cx="165790" cy="16579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58562" y="2049760"/>
            <a:ext cx="51488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Product Name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258562" y="2289572"/>
            <a:ext cx="51488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Descriptive name for easy recognition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61475" y="2654300"/>
            <a:ext cx="5394488" cy="1095871"/>
          </a:xfrm>
          <a:prstGeom prst="roundRect">
            <a:avLst>
              <a:gd name="adj" fmla="val 1682"/>
            </a:avLst>
          </a:prstGeom>
          <a:solidFill>
            <a:srgbClr val="F0EAEA"/>
          </a:solidFill>
          <a:ln/>
        </p:spPr>
      </p:sp>
      <p:sp>
        <p:nvSpPr>
          <p:cNvPr id="17" name="Shape 12"/>
          <p:cNvSpPr/>
          <p:nvPr/>
        </p:nvSpPr>
        <p:spPr>
          <a:xfrm>
            <a:off x="784305" y="2777133"/>
            <a:ext cx="368489" cy="368498"/>
          </a:xfrm>
          <a:prstGeom prst="ellipse">
            <a:avLst/>
          </a:prstGeom>
          <a:solidFill>
            <a:srgbClr val="1D1D1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5604" y="2878435"/>
            <a:ext cx="165790" cy="16579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84305" y="3225403"/>
            <a:ext cx="51488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Quantity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84305" y="3465215"/>
            <a:ext cx="51488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Real-time stock count tracking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6135732" y="2654300"/>
            <a:ext cx="5394488" cy="1095871"/>
          </a:xfrm>
          <a:prstGeom prst="roundRect">
            <a:avLst>
              <a:gd name="adj" fmla="val 1682"/>
            </a:avLst>
          </a:prstGeom>
          <a:solidFill>
            <a:srgbClr val="F0EAEA"/>
          </a:solidFill>
          <a:ln/>
        </p:spPr>
      </p:sp>
      <p:sp>
        <p:nvSpPr>
          <p:cNvPr id="22" name="Shape 16"/>
          <p:cNvSpPr/>
          <p:nvPr/>
        </p:nvSpPr>
        <p:spPr>
          <a:xfrm>
            <a:off x="6258562" y="2777133"/>
            <a:ext cx="368489" cy="368498"/>
          </a:xfrm>
          <a:prstGeom prst="ellipse">
            <a:avLst/>
          </a:prstGeom>
          <a:solidFill>
            <a:srgbClr val="1D1D1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9862" y="2878435"/>
            <a:ext cx="165790" cy="16579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258562" y="3225403"/>
            <a:ext cx="51488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Price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6258562" y="3465215"/>
            <a:ext cx="51488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Per-unit cost stored per product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61475" y="3829943"/>
            <a:ext cx="5394488" cy="1095871"/>
          </a:xfrm>
          <a:prstGeom prst="roundRect">
            <a:avLst>
              <a:gd name="adj" fmla="val 1682"/>
            </a:avLst>
          </a:prstGeom>
          <a:solidFill>
            <a:srgbClr val="F0EAEA"/>
          </a:solidFill>
          <a:ln/>
        </p:spPr>
      </p:sp>
      <p:sp>
        <p:nvSpPr>
          <p:cNvPr id="27" name="Shape 20"/>
          <p:cNvSpPr/>
          <p:nvPr/>
        </p:nvSpPr>
        <p:spPr>
          <a:xfrm>
            <a:off x="784305" y="3952776"/>
            <a:ext cx="368489" cy="368498"/>
          </a:xfrm>
          <a:prstGeom prst="ellipse">
            <a:avLst/>
          </a:prstGeom>
          <a:solidFill>
            <a:srgbClr val="1D1D1B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5604" y="4054078"/>
            <a:ext cx="165790" cy="165795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84305" y="4401046"/>
            <a:ext cx="51488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Search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784305" y="4640858"/>
            <a:ext cx="51488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Find products by ID or name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6135732" y="3829943"/>
            <a:ext cx="5394488" cy="1095871"/>
          </a:xfrm>
          <a:prstGeom prst="roundRect">
            <a:avLst>
              <a:gd name="adj" fmla="val 1682"/>
            </a:avLst>
          </a:prstGeom>
          <a:solidFill>
            <a:srgbClr val="F0EAEA"/>
          </a:solidFill>
          <a:ln/>
        </p:spPr>
      </p:sp>
      <p:sp>
        <p:nvSpPr>
          <p:cNvPr id="32" name="Shape 24"/>
          <p:cNvSpPr/>
          <p:nvPr/>
        </p:nvSpPr>
        <p:spPr>
          <a:xfrm>
            <a:off x="6258562" y="3952776"/>
            <a:ext cx="368489" cy="368498"/>
          </a:xfrm>
          <a:prstGeom prst="ellipse">
            <a:avLst/>
          </a:prstGeom>
          <a:solidFill>
            <a:srgbClr val="1D1D1B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59862" y="4054078"/>
            <a:ext cx="165790" cy="16579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258562" y="4401046"/>
            <a:ext cx="51488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Update Stock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6258562" y="4640858"/>
            <a:ext cx="51488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Edit quantity or price instantly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661475" y="5005586"/>
            <a:ext cx="5394488" cy="1095871"/>
          </a:xfrm>
          <a:prstGeom prst="roundRect">
            <a:avLst>
              <a:gd name="adj" fmla="val 1682"/>
            </a:avLst>
          </a:prstGeom>
          <a:solidFill>
            <a:srgbClr val="F0EAEA"/>
          </a:solidFill>
          <a:ln/>
        </p:spPr>
      </p:sp>
      <p:sp>
        <p:nvSpPr>
          <p:cNvPr id="37" name="Shape 28"/>
          <p:cNvSpPr/>
          <p:nvPr/>
        </p:nvSpPr>
        <p:spPr>
          <a:xfrm>
            <a:off x="784305" y="5128419"/>
            <a:ext cx="368489" cy="368498"/>
          </a:xfrm>
          <a:prstGeom prst="ellipse">
            <a:avLst/>
          </a:prstGeom>
          <a:solidFill>
            <a:srgbClr val="1D1D1B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85604" y="5229721"/>
            <a:ext cx="165790" cy="165795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84305" y="5576689"/>
            <a:ext cx="51488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Delete Product</a:t>
            </a:r>
            <a:endParaRPr lang="en-US" sz="1200" dirty="0"/>
          </a:p>
        </p:txBody>
      </p:sp>
      <p:sp>
        <p:nvSpPr>
          <p:cNvPr id="40" name="Text 30"/>
          <p:cNvSpPr/>
          <p:nvPr/>
        </p:nvSpPr>
        <p:spPr>
          <a:xfrm>
            <a:off x="784305" y="5816501"/>
            <a:ext cx="51488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Remove items from inventory</a:t>
            </a:r>
            <a:endParaRPr lang="en-US" sz="950" dirty="0"/>
          </a:p>
        </p:txBody>
      </p:sp>
      <p:sp>
        <p:nvSpPr>
          <p:cNvPr id="41" name="Shape 31"/>
          <p:cNvSpPr/>
          <p:nvPr/>
        </p:nvSpPr>
        <p:spPr>
          <a:xfrm>
            <a:off x="6135732" y="5005586"/>
            <a:ext cx="5394488" cy="1095871"/>
          </a:xfrm>
          <a:prstGeom prst="roundRect">
            <a:avLst>
              <a:gd name="adj" fmla="val 1682"/>
            </a:avLst>
          </a:prstGeom>
          <a:solidFill>
            <a:srgbClr val="F0EAEA"/>
          </a:solidFill>
          <a:ln/>
        </p:spPr>
      </p:sp>
      <p:sp>
        <p:nvSpPr>
          <p:cNvPr id="42" name="Shape 32"/>
          <p:cNvSpPr/>
          <p:nvPr/>
        </p:nvSpPr>
        <p:spPr>
          <a:xfrm>
            <a:off x="6258562" y="5128419"/>
            <a:ext cx="368489" cy="368498"/>
          </a:xfrm>
          <a:prstGeom prst="ellipse">
            <a:avLst/>
          </a:prstGeom>
          <a:solidFill>
            <a:srgbClr val="1D1D1B"/>
          </a:solidFill>
          <a:ln/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359862" y="5229721"/>
            <a:ext cx="165790" cy="165795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6258562" y="5576689"/>
            <a:ext cx="514882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Display Inventory</a:t>
            </a:r>
            <a:endParaRPr lang="en-US" sz="1200" dirty="0"/>
          </a:p>
        </p:txBody>
      </p:sp>
      <p:sp>
        <p:nvSpPr>
          <p:cNvPr id="45" name="Text 34"/>
          <p:cNvSpPr/>
          <p:nvPr/>
        </p:nvSpPr>
        <p:spPr>
          <a:xfrm>
            <a:off x="6258562" y="5816501"/>
            <a:ext cx="514882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View all products in table format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9792"/>
            <a:ext cx="1455304" cy="215305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1D1D1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503" y="610691"/>
            <a:ext cx="113404" cy="113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6560" y="602258"/>
            <a:ext cx="172477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D1D1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SYSTEM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817563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How the System Flows</a:t>
            </a:r>
            <a:endParaRPr lang="en-US" sz="2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466" y="1420019"/>
            <a:ext cx="8106763" cy="45600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475" y="6099671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2859"/>
            <a:ext cx="1654630" cy="186630"/>
          </a:xfrm>
          <a:prstGeom prst="roundRect">
            <a:avLst>
              <a:gd name="adj" fmla="val 7900"/>
            </a:avLst>
          </a:prstGeom>
          <a:solidFill>
            <a:srgbClr val="E6E6E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093" y="697012"/>
            <a:ext cx="98224" cy="982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2429" y="689670"/>
            <a:ext cx="1969641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 PROGRAMMING CONCEPTS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61475" y="871339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Core Concepts Applied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61475" y="2894310"/>
            <a:ext cx="5284556" cy="575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This project demonstrates six fundamental C programming constructs working together to build a functional, menu-driven inventory system.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014" y="1464866"/>
            <a:ext cx="3434867" cy="3434953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775" y="5066705"/>
            <a:ext cx="2655027" cy="58945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9704" y="5079405"/>
            <a:ext cx="24940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Structures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809704" y="5319216"/>
            <a:ext cx="249409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Bundles product ID, name, quantity, and price into a single record type.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90914" y="5066705"/>
            <a:ext cx="2655027" cy="58945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551843" y="5079405"/>
            <a:ext cx="24940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Arrays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3551843" y="5319216"/>
            <a:ext cx="249409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Stores multiple product records in contiguous memory for fast access.</a:t>
            </a:r>
            <a:endParaRPr lang="en-US" sz="9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33054" y="5066705"/>
            <a:ext cx="2655027" cy="58945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293982" y="5079405"/>
            <a:ext cx="24940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6293982" y="5319216"/>
            <a:ext cx="249409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Modularizes add, search, update, delete, and display operations.</a:t>
            </a:r>
            <a:endParaRPr lang="en-US" sz="9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75193" y="5066705"/>
            <a:ext cx="2655027" cy="589459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036122" y="5079405"/>
            <a:ext cx="249409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Loops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036122" y="5319216"/>
            <a:ext cx="2494099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Iterates through arrays for display, search, and input validation.</a:t>
            </a:r>
            <a:endParaRPr lang="en-US" sz="9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8775" y="5790406"/>
            <a:ext cx="5397167" cy="42733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09704" y="5803106"/>
            <a:ext cx="523623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Switch Case</a:t>
            </a:r>
            <a:endParaRPr lang="en-US" sz="1200" dirty="0"/>
          </a:p>
        </p:txBody>
      </p:sp>
      <p:sp>
        <p:nvSpPr>
          <p:cNvPr id="22" name="Text 13"/>
          <p:cNvSpPr/>
          <p:nvPr/>
        </p:nvSpPr>
        <p:spPr>
          <a:xfrm>
            <a:off x="809704" y="6042918"/>
            <a:ext cx="523623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Drives the menu-driven interface with clean option branching.</a:t>
            </a:r>
            <a:endParaRPr lang="en-US" sz="9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33054" y="5790406"/>
            <a:ext cx="5397167" cy="427335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293982" y="5803106"/>
            <a:ext cx="523623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Conditional Statements</a:t>
            </a:r>
            <a:endParaRPr lang="en-US" sz="1200" dirty="0"/>
          </a:p>
        </p:txBody>
      </p:sp>
      <p:sp>
        <p:nvSpPr>
          <p:cNvPr id="25" name="Text 15"/>
          <p:cNvSpPr/>
          <p:nvPr/>
        </p:nvSpPr>
        <p:spPr>
          <a:xfrm>
            <a:off x="6293982" y="6042918"/>
            <a:ext cx="523623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Handles validation, stock checks, and decision logic throughout.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6554"/>
            <a:ext cx="1565434" cy="222448"/>
          </a:xfrm>
          <a:prstGeom prst="roundRect">
            <a:avLst>
              <a:gd name="adj" fmla="val 7902"/>
            </a:avLst>
          </a:prstGeom>
          <a:noFill/>
          <a:ln w="6350">
            <a:solidFill>
              <a:srgbClr val="1D1D1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81" y="579140"/>
            <a:ext cx="117174" cy="1171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4993" y="570409"/>
            <a:ext cx="1823694" cy="134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1D1D1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PROJECT STRUCTURE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61475" y="794345"/>
            <a:ext cx="10868745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Folder &amp; File Organization</a:t>
            </a:r>
            <a:endParaRPr lang="en-US" sz="2850" dirty="0"/>
          </a:p>
        </p:txBody>
      </p:sp>
      <p:sp>
        <p:nvSpPr>
          <p:cNvPr id="6" name="Shape 3"/>
          <p:cNvSpPr/>
          <p:nvPr/>
        </p:nvSpPr>
        <p:spPr>
          <a:xfrm>
            <a:off x="556008" y="1422301"/>
            <a:ext cx="4905252" cy="4909046"/>
          </a:xfrm>
          <a:prstGeom prst="roundRect">
            <a:avLst>
              <a:gd name="adj" fmla="val 448"/>
            </a:avLst>
          </a:prstGeom>
          <a:solidFill>
            <a:srgbClr val="FCFCFC"/>
          </a:solidFill>
          <a:ln/>
        </p:spPr>
      </p:sp>
      <p:sp>
        <p:nvSpPr>
          <p:cNvPr id="7" name="Text 4"/>
          <p:cNvSpPr/>
          <p:nvPr/>
        </p:nvSpPr>
        <p:spPr>
          <a:xfrm>
            <a:off x="702451" y="2778026"/>
            <a:ext cx="4612366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Repository Layout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02451" y="3120430"/>
            <a:ext cx="4612366" cy="1866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D1D1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A clean, minimal project structure keeps the codebase organized and easy to navigate for evaluation and future extension.</a:t>
            </a:r>
            <a:endParaRPr lang="en-US" sz="14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D1D1B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main.c</a:t>
            </a:r>
            <a:pPr algn="l"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All source code and logic</a:t>
            </a:r>
            <a:endParaRPr lang="en-US" sz="14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D1D1B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README.md</a:t>
            </a:r>
            <a:pPr algn="l" indent="0" marL="0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Project documentation</a:t>
            </a:r>
            <a:endParaRPr lang="en-US" sz="14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D1D1B"/>
                </a:solidFill>
                <a:latin typeface="Tomorrow Bold" pitchFamily="34" charset="0"/>
                <a:ea typeface="Tomorrow Bold" pitchFamily="34" charset="-122"/>
                <a:cs typeface="Tomorrow Bold" pitchFamily="34" charset="-120"/>
              </a:rPr>
              <a:t>Output/</a:t>
            </a:r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— Screenshots &amp; test runs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520" y="1549995"/>
            <a:ext cx="4653541" cy="46536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4723"/>
            <a:ext cx="1856039" cy="229691"/>
          </a:xfrm>
          <a:prstGeom prst="roundRect">
            <a:avLst>
              <a:gd name="adj" fmla="val 7900"/>
            </a:avLst>
          </a:prstGeom>
          <a:solidFill>
            <a:srgbClr val="E6E6E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159" y="699095"/>
            <a:ext cx="120945" cy="1209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526" y="690066"/>
            <a:ext cx="210288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PROGRAM SCREENSHOTS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61475" y="92273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Console Output Gallery</a:t>
            </a:r>
            <a:endParaRPr lang="en-US" sz="2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712615"/>
            <a:ext cx="2731722" cy="3262213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437" y="1712615"/>
            <a:ext cx="2866556" cy="401081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09968" y="1685429"/>
            <a:ext cx="374233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endParaRPr lang="en-US" sz="11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9968" y="2039144"/>
            <a:ext cx="2506203" cy="267255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61475" y="5995491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Key screens from the running application.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0482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Future Enhancements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496120"/>
            <a:ext cx="354401" cy="3544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983383"/>
            <a:ext cx="53678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File Handling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61475" y="2268538"/>
            <a:ext cx="53678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Persist inventory data across sessions using file I/O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2223" y="1496120"/>
            <a:ext cx="354401" cy="3544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62223" y="1983383"/>
            <a:ext cx="5367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Billing System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162223" y="2268538"/>
            <a:ext cx="536799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Generate itemized bills with totals and taxes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679601"/>
            <a:ext cx="354401" cy="3544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166864"/>
            <a:ext cx="53678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Barcode Scanner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61475" y="3452019"/>
            <a:ext cx="53678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Integrate hardware barcode input for faster product lookup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2223" y="2679601"/>
            <a:ext cx="354401" cy="35440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62223" y="3166864"/>
            <a:ext cx="5367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Product Categories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162223" y="3452019"/>
            <a:ext cx="536799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Organize items into sections like Dairy, Grains, Beverages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863082"/>
            <a:ext cx="354401" cy="35440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4350345"/>
            <a:ext cx="53678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Low Stock Alerts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661475" y="4635500"/>
            <a:ext cx="53678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Auto-notify when quantity falls below a threshold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62223" y="3863082"/>
            <a:ext cx="354401" cy="35440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162223" y="4350345"/>
            <a:ext cx="5367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Expiry Date Management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6162223" y="4635500"/>
            <a:ext cx="536799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Track and flag products nearing expiration</a:t>
            </a:r>
            <a:endParaRPr lang="en-US" sz="11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5046563"/>
            <a:ext cx="354401" cy="354409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61475" y="5533827"/>
            <a:ext cx="53678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Database Integration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661475" y="5818981"/>
            <a:ext cx="53678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Migrate from arrays to SQLite for scalable storage</a:t>
            </a:r>
            <a:endParaRPr lang="en-US" sz="11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162223" y="5046563"/>
            <a:ext cx="354401" cy="354409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162223" y="5533827"/>
            <a:ext cx="5367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GUI Version</a:t>
            </a:r>
            <a:endParaRPr lang="en-US" sz="1350" dirty="0"/>
          </a:p>
        </p:txBody>
      </p:sp>
      <p:sp>
        <p:nvSpPr>
          <p:cNvPr id="26" name="Text 16"/>
          <p:cNvSpPr/>
          <p:nvPr/>
        </p:nvSpPr>
        <p:spPr>
          <a:xfrm>
            <a:off x="6162223" y="5818981"/>
            <a:ext cx="536799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Build a graphical interface using GTK or ncurses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87091"/>
            <a:ext cx="1425738" cy="287139"/>
          </a:xfrm>
          <a:prstGeom prst="roundRect">
            <a:avLst>
              <a:gd name="adj" fmla="val 7899"/>
            </a:avLst>
          </a:prstGeom>
          <a:solidFill>
            <a:srgbClr val="E6E6E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879" y="1555055"/>
            <a:ext cx="151206" cy="151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1687" y="1543745"/>
            <a:ext cx="158170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8498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661475" y="2723952"/>
            <a:ext cx="25399" cy="1332508"/>
          </a:xfrm>
          <a:prstGeom prst="roundRect">
            <a:avLst>
              <a:gd name="adj" fmla="val 60001"/>
            </a:avLst>
          </a:prstGeom>
          <a:solidFill>
            <a:srgbClr val="1D1D1B"/>
          </a:solidFill>
          <a:ln/>
        </p:spPr>
      </p:sp>
      <p:sp>
        <p:nvSpPr>
          <p:cNvPr id="7" name="Text 4"/>
          <p:cNvSpPr/>
          <p:nvPr/>
        </p:nvSpPr>
        <p:spPr>
          <a:xfrm>
            <a:off x="944936" y="2936577"/>
            <a:ext cx="1058528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"The Grocery Inventory Management System demonstrates the implementation of core C programming concepts — structures, arrays, functions, loops, and conditional statements — through a simple, functional console-based application."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1475" y="4269085"/>
            <a:ext cx="10868745" cy="1101824"/>
          </a:xfrm>
          <a:prstGeom prst="roundRect">
            <a:avLst>
              <a:gd name="adj" fmla="val 2573"/>
            </a:avLst>
          </a:prstGeom>
          <a:solidFill>
            <a:srgbClr val="F0EAEA"/>
          </a:solidFill>
          <a:ln/>
        </p:spPr>
      </p:sp>
      <p:sp>
        <p:nvSpPr>
          <p:cNvPr id="9" name="Shape 6"/>
          <p:cNvSpPr/>
          <p:nvPr/>
        </p:nvSpPr>
        <p:spPr>
          <a:xfrm>
            <a:off x="661475" y="4269085"/>
            <a:ext cx="10868745" cy="1101824"/>
          </a:xfrm>
          <a:prstGeom prst="roundRect">
            <a:avLst>
              <a:gd name="adj" fmla="val 2573"/>
            </a:avLst>
          </a:prstGeom>
          <a:solidFill>
            <a:srgbClr val="F0EAEA"/>
          </a:solidFill>
          <a:ln/>
        </p:spPr>
      </p:sp>
      <p:sp>
        <p:nvSpPr>
          <p:cNvPr id="10" name="Text 7"/>
          <p:cNvSpPr/>
          <p:nvPr/>
        </p:nvSpPr>
        <p:spPr>
          <a:xfrm>
            <a:off x="850482" y="4458097"/>
            <a:ext cx="10490731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 Problem Solved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50482" y="4879479"/>
            <a:ext cx="1049073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Replaces error-prone manual registers with a digital system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2026-07-19T18:19:11Z</dcterms:created>
  <dcterms:modified xsi:type="dcterms:W3CDTF">2026-07-19T18:19:11Z</dcterms:modified>
</cp:coreProperties>
</file>